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56" r:id="rId3"/>
    <p:sldId id="361" r:id="rId4"/>
    <p:sldId id="362" r:id="rId5"/>
    <p:sldId id="365" r:id="rId6"/>
    <p:sldId id="363" r:id="rId7"/>
    <p:sldId id="358" r:id="rId8"/>
    <p:sldId id="357" r:id="rId9"/>
    <p:sldId id="364" r:id="rId10"/>
  </p:sldIdLst>
  <p:sldSz cx="9906000" cy="6858000" type="A4"/>
  <p:notesSz cx="9240520" cy="69545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A185C9-1501-4057-83B0-75C7BD3AB865}">
          <p14:sldIdLst>
            <p14:sldId id="356"/>
            <p14:sldId id="361"/>
            <p14:sldId id="362"/>
            <p14:sldId id="365"/>
            <p14:sldId id="363"/>
            <p14:sldId id="358"/>
            <p14:sldId id="357"/>
            <p14:sldId id="364"/>
          </p14:sldIdLst>
        </p14:section>
        <p14:section name="Untitled Section" id="{785DB642-3190-4FAB-A41A-544A6357496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.Ravi Kumar" initials="SK" lastIdx="2" clrIdx="0"/>
  <p:cmAuthor id="2" name="Subba Rao Anupindi" initials="SR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316" y="48"/>
      </p:cViewPr>
      <p:guideLst>
        <p:guide orient="horz" pos="2188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004363" cy="349352"/>
          </a:xfrm>
          <a:prstGeom prst="rect">
            <a:avLst/>
          </a:prstGeom>
        </p:spPr>
        <p:txBody>
          <a:bodyPr vert="horz" lIns="89082" tIns="44541" rIns="89082" bIns="44541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4871" y="1"/>
            <a:ext cx="4004363" cy="349352"/>
          </a:xfrm>
          <a:prstGeom prst="rect">
            <a:avLst/>
          </a:prstGeom>
        </p:spPr>
        <p:txBody>
          <a:bodyPr vert="horz" lIns="89082" tIns="44541" rIns="89082" bIns="44541" rtlCol="0"/>
          <a:lstStyle>
            <a:lvl1pPr algn="r">
              <a:defRPr sz="1100"/>
            </a:lvl1pPr>
          </a:lstStyle>
          <a:p>
            <a:fld id="{5E9B9B71-962A-4526-899B-3954D6A5C80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8938" y="869950"/>
            <a:ext cx="3382962" cy="2343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082" tIns="44541" rIns="89082" bIns="4454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4085" y="3347018"/>
            <a:ext cx="7392670" cy="2738467"/>
          </a:xfrm>
          <a:prstGeom prst="rect">
            <a:avLst/>
          </a:prstGeom>
        </p:spPr>
        <p:txBody>
          <a:bodyPr vert="horz" lIns="89082" tIns="44541" rIns="89082" bIns="44541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605492"/>
            <a:ext cx="4004363" cy="349351"/>
          </a:xfrm>
          <a:prstGeom prst="rect">
            <a:avLst/>
          </a:prstGeom>
        </p:spPr>
        <p:txBody>
          <a:bodyPr vert="horz" lIns="89082" tIns="44541" rIns="89082" bIns="44541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4871" y="6605492"/>
            <a:ext cx="4004363" cy="349351"/>
          </a:xfrm>
          <a:prstGeom prst="rect">
            <a:avLst/>
          </a:prstGeom>
        </p:spPr>
        <p:txBody>
          <a:bodyPr vert="horz" lIns="89082" tIns="44541" rIns="89082" bIns="44541" rtlCol="0" anchor="b"/>
          <a:lstStyle>
            <a:lvl1pPr algn="r">
              <a:defRPr sz="1100"/>
            </a:lvl1pPr>
          </a:lstStyle>
          <a:p>
            <a:fld id="{77D47C25-B104-4BA2-8A54-1EF60C746FF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ED94-A3BE-47AC-92CE-240F550B31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562C-EBD9-41AE-94F5-505211FBFC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46855-92C4-4BEB-8002-0A40E398938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1763-0854-4A5E-A0CC-847E76BF89C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3EE72-A2CF-4F3A-A928-F86839ACEEF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6DD4-A243-488E-A295-DD3A3E923D9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8F-BE2D-40FA-8282-C384772BC8F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10563-466E-415D-9360-AD44E94CA9F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4A63-CE10-431E-B8FD-A327C553FD7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FF11-B97B-4740-804E-A8D6D95CFC2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DECE-7C50-4E93-B932-80AEE116FAF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64F6-9B64-4BB9-AFFA-F89729A455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664F6-9B64-4BB9-AFFA-F89729A455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F88B6-6848-4BC8-9EDC-26ED473FCF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78130" y="2375535"/>
            <a:ext cx="91744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 b="1"/>
              <a:t>Title :- </a:t>
            </a:r>
            <a:r>
              <a:rPr lang="en-US" altLang="en-US" sz="2800" b="1"/>
              <a:t>Tech Job Trends Analysis using Power BI</a:t>
            </a:r>
            <a:endParaRPr lang="en-US" altLang="en-US" sz="2800" b="1"/>
          </a:p>
          <a:p>
            <a:pPr algn="l"/>
            <a:r>
              <a:rPr lang="en-US" sz="2800" b="1"/>
              <a:t>Subtitle :- </a:t>
            </a:r>
            <a:r>
              <a:rPr lang="en-US" altLang="en-US" sz="2800" b="1"/>
              <a:t>Helping Job Seekers with Insights from Real Data</a:t>
            </a:r>
            <a:endParaRPr lang="en-US" altLang="en-US" sz="2800" b="1"/>
          </a:p>
          <a:p>
            <a:pPr algn="l"/>
            <a:r>
              <a:rPr lang="en-US" sz="2800" b="1"/>
              <a:t>Presented By :- Subham Biswas</a:t>
            </a:r>
            <a:endParaRPr lang="en-US"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27000" y="872490"/>
            <a:ext cx="9549765" cy="196342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2800" b="1"/>
              <a:t>Title: Project Overview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Help job seekers by analyzing: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Hiring trends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High-paying industries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In-demand skills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15265" y="887095"/>
            <a:ext cx="9690100" cy="51720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en-US" sz="2400" b="1"/>
              <a:t>Dataset Overview</a:t>
            </a:r>
            <a:br>
              <a:rPr lang="en-US" altLang="en-US" sz="2400"/>
            </a:br>
            <a:r>
              <a:rPr lang="en-US" altLang="en-US" sz="2400" b="1"/>
              <a:t>Source</a:t>
            </a:r>
            <a:r>
              <a:rPr lang="en-US" altLang="en-US" sz="2400"/>
              <a:t>: Kaggle</a:t>
            </a:r>
            <a:br>
              <a:rPr lang="en-US" altLang="en-US" sz="2400"/>
            </a:br>
            <a:r>
              <a:rPr lang="en-US" altLang="en-US" sz="2400" b="1"/>
              <a:t>Format</a:t>
            </a:r>
            <a:r>
              <a:rPr lang="en-US" altLang="en-US" sz="2400"/>
              <a:t>: Excel</a:t>
            </a:r>
            <a:br>
              <a:rPr lang="en-US" altLang="en-US" sz="2400"/>
            </a:br>
            <a:r>
              <a:rPr lang="en-US" altLang="en-US" sz="2400" b="1"/>
              <a:t>Key Columns</a:t>
            </a:r>
            <a:r>
              <a:rPr lang="en-US" altLang="en-US" sz="2400"/>
              <a:t>: Job Title, Industry, Required Skills, Salary USD, Remote Friendly, AI Adoption Level, Automation Risk</a:t>
            </a:r>
            <a:endParaRPr lang="en-US" altLang="en-US" sz="2400"/>
          </a:p>
          <a:p>
            <a:pPr>
              <a:spcAft>
                <a:spcPct val="60000"/>
              </a:spcAft>
            </a:pPr>
            <a:endParaRPr lang="en-US" altLang="en-US" sz="2400"/>
          </a:p>
          <a:p>
            <a:pPr>
              <a:spcAft>
                <a:spcPct val="60000"/>
              </a:spcAft>
            </a:pPr>
            <a:r>
              <a:rPr lang="en-US" altLang="en-US" sz="2400" b="1"/>
              <a:t>Tools Used </a:t>
            </a:r>
            <a:r>
              <a:rPr lang="en-US" altLang="en-US" sz="2400"/>
              <a:t>: Python (Pandas), Power BI, Excel, Git &amp; GitHub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15265" y="887095"/>
            <a:ext cx="9690100" cy="51720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en-US" sz="2400" b="1"/>
              <a:t>Step-by-Step Process :</a:t>
            </a:r>
            <a:br>
              <a:rPr lang="en-US" altLang="en-US" sz="2400" b="1"/>
            </a:br>
            <a:r>
              <a:rPr lang="en-US" altLang="en-US" sz="2400"/>
              <a:t>Download &amp; clean dataset</a:t>
            </a:r>
            <a:br>
              <a:rPr lang="en-US" altLang="en-US" sz="2400"/>
            </a:br>
            <a:r>
              <a:rPr lang="en-US" altLang="en-US" sz="2400"/>
              <a:t>Segment by industry, title, and salary</a:t>
            </a:r>
            <a:br>
              <a:rPr lang="en-US" altLang="en-US" sz="2400"/>
            </a:br>
            <a:r>
              <a:rPr lang="en-US" altLang="en-US" sz="2400"/>
              <a:t>Extract and count required skills</a:t>
            </a:r>
            <a:br>
              <a:rPr lang="en-US" altLang="en-US" sz="2400"/>
            </a:br>
            <a:r>
              <a:rPr lang="en-US" altLang="en-US" sz="2400"/>
              <a:t>Visualize insights in Power BI</a:t>
            </a:r>
            <a:endParaRPr lang="en-US" altLang="en-US" sz="2400"/>
          </a:p>
          <a:p>
            <a:pPr>
              <a:spcAft>
                <a:spcPct val="60000"/>
              </a:spcAft>
            </a:pPr>
            <a:r>
              <a:rPr lang="en-US" altLang="en-US" sz="2400" b="1"/>
              <a:t>Key Power BI Visuals :</a:t>
            </a:r>
            <a:br>
              <a:rPr lang="en-US" altLang="en-US" sz="2400" b="1"/>
            </a:br>
            <a:r>
              <a:rPr lang="en-US" altLang="en-US" sz="2400"/>
              <a:t>Jobs by industry (bar chart)</a:t>
            </a:r>
            <a:br>
              <a:rPr lang="en-US" altLang="en-US" sz="2400"/>
            </a:br>
            <a:r>
              <a:rPr lang="en-US" altLang="en-US" sz="2400"/>
              <a:t>Avg salary by job title</a:t>
            </a:r>
            <a:br>
              <a:rPr lang="en-US" altLang="en-US" sz="2400"/>
            </a:br>
            <a:r>
              <a:rPr lang="en-US" altLang="en-US" sz="2400"/>
              <a:t>Top required skills (bar/word cloud)</a:t>
            </a:r>
            <a:br>
              <a:rPr lang="en-US" altLang="en-US" sz="2400"/>
            </a:br>
            <a:r>
              <a:rPr lang="en-US" altLang="en-US" sz="2400"/>
              <a:t>AI adoption &amp; automation risk (pie)</a:t>
            </a:r>
            <a:br>
              <a:rPr lang="en-US" altLang="en-US" sz="2400"/>
            </a:br>
            <a:r>
              <a:rPr lang="en-US" altLang="en-US" sz="2400"/>
              <a:t>Remote jobs by industry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605" y="839470"/>
            <a:ext cx="9920605" cy="56565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94430" y="250190"/>
            <a:ext cx="330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/>
              <a:t>Power BI Dashboard Creation</a:t>
            </a:r>
            <a:endParaRPr 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791210"/>
            <a:ext cx="9906000" cy="3684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 Insights</a:t>
            </a:r>
            <a:r>
              <a:rPr lang="en-US" sz="2400" b="1">
                <a:sym typeface="+mn-ea"/>
              </a:rPr>
              <a:t> :</a:t>
            </a:r>
            <a:br>
              <a:rPr lang="en-US" sz="2400" b="1">
                <a:sym typeface="+mn-ea"/>
              </a:rPr>
            </a:br>
            <a:r>
              <a:rPr sz="2400">
                <a:sym typeface="+mn-ea"/>
              </a:rPr>
              <a:t>Top-paying industries and job titles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Most in-demand skills (e.g., Python, SQL)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High AI adoption = higher salaries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Remote jobs are growing in tech roles</a:t>
            </a:r>
            <a:endParaRPr sz="2400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en-US" sz="2400" b="1">
                <a:sym typeface="+mn-ea"/>
              </a:rPr>
              <a:t>Conclusion :</a:t>
            </a:r>
            <a:br>
              <a:rPr lang="en-US" altLang="en-US" sz="2400" b="1">
                <a:sym typeface="+mn-ea"/>
              </a:rPr>
            </a:br>
            <a:r>
              <a:rPr lang="en-US" altLang="en-US" sz="2400">
                <a:sym typeface="+mn-ea"/>
              </a:rPr>
              <a:t>Job seekers can use these insights to plan better</a:t>
            </a:r>
            <a:br>
              <a:rPr lang="en-US" altLang="en-US" sz="2400">
                <a:sym typeface="+mn-ea"/>
              </a:rPr>
            </a:br>
            <a:r>
              <a:rPr lang="en-US" altLang="en-US" sz="2400">
                <a:sym typeface="+mn-ea"/>
              </a:rPr>
              <a:t>Project can be extended to include trends over time</a:t>
            </a:r>
            <a:br>
              <a:rPr lang="en-US" altLang="en-US" sz="2400">
                <a:sym typeface="+mn-ea"/>
              </a:rPr>
            </a:br>
            <a:r>
              <a:rPr lang="en-US" altLang="en-US" sz="2400">
                <a:sym typeface="+mn-ea"/>
              </a:rPr>
              <a:t>Shared on GitHub with full code + dashboard</a:t>
            </a:r>
            <a:endParaRPr lang="en-US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23520" y="861060"/>
            <a:ext cx="9204960" cy="1722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/>
              <a:t>Title: Conclusion</a:t>
            </a:r>
            <a:endParaRPr lang="en-US" altLang="en-US" sz="2800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Successfully developed a comprehensive dashboard for mobile analytics.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SQL queries and Power BI dashboards provide actionable insights.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The analysis supports strategic decision-making in the mobile retail sector.</a:t>
            </a:r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F9F88B6-6848-4BC8-9EDC-26ED473FCFEB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302000" y="2988310"/>
            <a:ext cx="330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THANK YOU !</a:t>
            </a:r>
            <a:endParaRPr lang="en-US" sz="3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2315B09AB3B4197738357520C6B77" ma:contentTypeVersion="8" ma:contentTypeDescription="Create a new document." ma:contentTypeScope="" ma:versionID="973c293fbd530e4f0345420e2cf0f4aa">
  <xsd:schema xmlns:xsd="http://www.w3.org/2001/XMLSchema" xmlns:xs="http://www.w3.org/2001/XMLSchema" xmlns:p="http://schemas.microsoft.com/office/2006/metadata/properties" xmlns:ns2="d86a2c3e-c9c5-46e4-b7b3-54077a7f96c2" targetNamespace="http://schemas.microsoft.com/office/2006/metadata/properties" ma:root="true" ma:fieldsID="cb65f01193799d3d14d0a5703716aed9" ns2:_="">
    <xsd:import namespace="d86a2c3e-c9c5-46e4-b7b3-54077a7f96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6a2c3e-c9c5-46e4-b7b3-54077a7f96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DD8CA3-4C34-4EBE-82B9-78DF5F425C8F}">
  <ds:schemaRefs/>
</ds:datastoreItem>
</file>

<file path=customXml/itemProps2.xml><?xml version="1.0" encoding="utf-8"?>
<ds:datastoreItem xmlns:ds="http://schemas.openxmlformats.org/officeDocument/2006/customXml" ds:itemID="{71E987B9-08DF-48BD-BA3E-DCA931CD3854}">
  <ds:schemaRefs/>
</ds:datastoreItem>
</file>

<file path=customXml/itemProps3.xml><?xml version="1.0" encoding="utf-8"?>
<ds:datastoreItem xmlns:ds="http://schemas.openxmlformats.org/officeDocument/2006/customXml" ds:itemID="{CEB437BA-004B-4AB8-BE8A-5FCED23DC90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WPS Slides</Application>
  <PresentationFormat>A4 Paper (210x297 mm)</PresentationFormat>
  <Paragraphs>49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S.Ravi Kumar</dc:creator>
  <cp:lastModifiedBy>Subham Vikky</cp:lastModifiedBy>
  <cp:revision>330</cp:revision>
  <cp:lastPrinted>2023-07-07T10:02:00Z</cp:lastPrinted>
  <dcterms:created xsi:type="dcterms:W3CDTF">2020-01-21T11:45:00Z</dcterms:created>
  <dcterms:modified xsi:type="dcterms:W3CDTF">2025-04-12T15:23:28Z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0x0101005032315B09AB3B4197738357520C6B77</vt:lpwstr>
  </property>
  <property fmtid="{D5CDD505-2E9C-101B-9397-08002B2CF9AE}" pid="3" name="ICV">
    <vt:lpwstr>E39041F6160D44F7B1117370441F99DF_12</vt:lpwstr>
  </property>
  <property fmtid="{D5CDD505-2E9C-101B-9397-08002B2CF9AE}" pid="4" name="KSOProductBuildVer">
    <vt:lpwstr>1033-12.2.0.20782</vt:lpwstr>
  </property>
</Properties>
</file>